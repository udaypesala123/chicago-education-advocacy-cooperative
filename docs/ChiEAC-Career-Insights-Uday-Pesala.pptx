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 in one breath.</a:t>
            </a:r>
          </a:p>
          <a:p/>
          <a:p>
            <a:r>
              <a:t>"Hi, I'm Uday Pesala. This is the ChiEAC Career Insights Dashboard, a live web app I designed and built end to end. It helps international students and early-career professionals answer three questions: Which careers fit my skills? What should I learn next? What do pay and demand look like in different U.S. cities?"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students have the skills but lack a clear map to U.S. careers.</a:t>
            </a:r>
          </a:p>
          <a:p/>
          <a:p>
            <a:r>
              <a:t>- Many international students have strong technical skills but struggle to map them to U.S. job titles.</a:t>
            </a:r>
          </a:p>
          <a:p>
            <a:r>
              <a:t>- The data they need (salaries, demand, required skills) is spread across government websites.</a:t>
            </a:r>
          </a:p>
          <a:p>
            <a:r>
              <a:t>- So I built one place that turns their skills into personal career matches, a prioritized learning plan, and city-level pay and demand, all from cited public data.</a:t>
            </a:r>
          </a:p>
          <a:p>
            <a:r>
              <a:t>- Scope today: 16 career paths, 46 skills, 10 metro areas including Chicago, and 8 documented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tools; demo live if you can.</a:t>
            </a:r>
          </a:p>
          <a:p/>
          <a:p>
            <a:r>
              <a:t>1. Career Explorer: choose skills (or paste them from a résumé; it understands shorthand like 'k8s' and catches typos). Each career gets a match score and a plain-language explanation.</a:t>
            </a:r>
          </a:p>
          <a:p>
            <a:r>
              <a:t>2. Skills Gap Analysis: pick a target role, see a readiness score, what you already have, and what to learn first (High / Medium / Low priority). Download a personal PDF or CSV report for an advisor.</a:t>
            </a:r>
          </a:p>
          <a:p>
            <a:r>
              <a:t>3. Location &amp; Salary Insights: compare pay ranges, job demand, required skills and industries across 10 metros, including Chicago. Every chart shows its source and date.</a:t>
            </a:r>
          </a:p>
          <a:p>
            <a:r>
              <a:t>4. ChiEAC Impact: anonymized trends across profiles. No personal information; small groups are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take a project from idea to production.</a:t>
            </a:r>
          </a:p>
          <a:p/>
          <a:p>
            <a:r>
              <a:t>- Data: public sources (Bureau of Labor Statistics wages and projections, O*NET skills, Data USA).</a:t>
            </a:r>
          </a:p>
          <a:p>
            <a:r>
              <a:t>- Pipeline: Python and Pandas, with automatic checks so bad data fails loudly.</a:t>
            </a:r>
          </a:p>
          <a:p>
            <a:r>
              <a:t>- Model: the match score combines how much of a role's skill profile you cover with a scikit-learn TF-IDF similarity, so distinctive skills count more. It's transparent, not a black box.</a:t>
            </a:r>
          </a:p>
          <a:p>
            <a:r>
              <a:t>- App: Streamlit and Plotly, accessible colors, works on phones.</a:t>
            </a:r>
          </a:p>
          <a:p>
            <a:r>
              <a:t>- Deployed on Streamlit Community Cloud; every push to GitHub redeploys automatically.</a:t>
            </a:r>
          </a:p>
          <a:p>
            <a:r>
              <a:t>- Trust: sources cited on every chart, demo data labelled, privacy by design, 17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value and a clear ask.</a:t>
            </a:r>
          </a:p>
          <a:p/>
          <a:p>
            <a:r>
              <a:t>- Students get clear options and a focused learning plan; advisors get an explainable, shared tool; ChiEAC gets anonymized insight to plan workshops and partnerships.</a:t>
            </a:r>
          </a:p>
          <a:p>
            <a:r>
              <a:t>- Next steps: pilot with a cohort, connect real (consented) program data, refresh with the latest BLS / O*NET data.</a:t>
            </a:r>
          </a:p>
          <a:p>
            <a:r>
              <a:t>- "The app is live now; please try it at the link on screen. I'm happy to take questions or walk through any part in more detail. Thank you."</a:t>
            </a:r>
          </a:p>
          <a:p/>
          <a:p>
            <a:r>
              <a:t>Reminder: this is educational guidance, not immigration, legal, employment or salary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DB9DE"/>
                </a:solidFill>
                <a:latin typeface="Calibri"/>
              </a:rPr>
              <a:t>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57784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ChiEAC Career</a:t>
            </a:r>
          </a:p>
          <a:p>
            <a:pPr algn="l">
              <a:lnSpc>
                <a:spcPct val="9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Insights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3949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EF6"/>
                </a:solidFill>
                <a:latin typeface="Calibri"/>
              </a:rPr>
              <a:t>Helping international students find careers that fit their skills, close skill gaps, and understand salaries and demand across U.S. cities.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B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Designed &amp; built by Uday Pesala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9DB9DE"/>
                </a:solidFill>
                <a:latin typeface="Calibri"/>
              </a:rPr>
              <a:t>Live app  </a:t>
            </a:r>
            <a:r>
              <a:rPr sz="1200" b="0">
                <a:solidFill>
                  <a:srgbClr val="FFFFFF"/>
                </a:solidFill>
                <a:latin typeface="Calibri"/>
              </a:rPr>
              <a:t>uday-pesala-chieac-project-career-insights-dashboard.streamlit.app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9DB9DE"/>
                </a:solidFill>
                <a:latin typeface="Calibri"/>
              </a:rPr>
              <a:t>Built with  </a:t>
            </a:r>
            <a:r>
              <a:rPr sz="1200" b="0">
                <a:solidFill>
                  <a:srgbClr val="FFFFFF"/>
                </a:solidFill>
                <a:latin typeface="Calibri"/>
              </a:rPr>
              <a:t>Python · Streamlit · Pandas · Plotly · scikit-learn</a:t>
            </a:r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rcRect l="15200"/>
          <a:stretch>
            <a:fillRect/>
          </a:stretch>
        </p:blipFill>
        <p:spPr>
          <a:xfrm>
            <a:off x="6720840" y="1417320"/>
            <a:ext cx="5074920" cy="3366323"/>
          </a:xfrm>
          <a:prstGeom prst="rect">
            <a:avLst/>
          </a:prstGeom>
          <a:ln w="12700">
            <a:solidFill>
              <a:srgbClr val="DDE3EB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6DB5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3A5C"/>
                </a:solidFill>
                <a:latin typeface="Calibri"/>
              </a:rPr>
              <a:t>The challenge, and what I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ChiEAC Career Insights Dashboard  ·  Uday Pesala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2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4612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7A1F"/>
                </a:solidFill>
                <a:latin typeface="Calibri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846320" cy="2514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E07A1F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Unclear job titles.</a:t>
            </a:r>
            <a:r>
              <a:rPr sz="1600" b="0">
                <a:solidFill>
                  <a:srgbClr val="1F2937"/>
                </a:solidFill>
                <a:latin typeface="Calibri"/>
              </a:rPr>
              <a:t> Strong skills, but no clear map to U.S. roles like Data Analyst or Cloud Engineer.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E07A1F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Scattered information.</a:t>
            </a:r>
            <a:r>
              <a:rPr sz="1600" b="0">
                <a:solidFill>
                  <a:srgbClr val="1F2937"/>
                </a:solidFill>
                <a:latin typeface="Calibri"/>
              </a:rPr>
              <a:t> Salary, demand and skills data live across many government sites.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E07A1F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Generic advice.</a:t>
            </a:r>
            <a:r>
              <a:rPr sz="1600" b="0">
                <a:solidFill>
                  <a:srgbClr val="1F2937"/>
                </a:solidFill>
                <a:latin typeface="Calibri"/>
              </a:rPr>
              <a:t> Students don't know which skills to learn first for their target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600200"/>
            <a:ext cx="5394960" cy="324612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600200"/>
            <a:ext cx="82296" cy="3246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828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40280"/>
            <a:ext cx="4846320" cy="2514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Personal career matches</a:t>
            </a:r>
            <a:r>
              <a:rPr sz="1600" b="0">
                <a:solidFill>
                  <a:srgbClr val="1F2937"/>
                </a:solidFill>
                <a:latin typeface="Calibri"/>
              </a:rPr>
              <a:t> from your own skills, with a score and a plain-language reason.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A prioritized learning plan</a:t>
            </a:r>
            <a:r>
              <a:rPr sz="1600" b="0">
                <a:solidFill>
                  <a:srgbClr val="1F2937"/>
                </a:solidFill>
                <a:latin typeface="Calibri"/>
              </a:rPr>
              <a:t> showing what you have, what's missing, and what to learn first.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Pay and demand by city,</a:t>
            </a:r>
            <a:r>
              <a:rPr sz="1600" b="0">
                <a:solidFill>
                  <a:srgbClr val="1F2937"/>
                </a:solidFill>
                <a:latin typeface="Calibri"/>
              </a:rPr>
              <a:t> using cited public data (BLS, O*NET, Data USA),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38928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B3A5C"/>
                </a:solidFill>
                <a:latin typeface="Calibr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50992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career paths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51206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5138928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B3A5C"/>
                </a:solidFill>
                <a:latin typeface="Calibri"/>
              </a:rPr>
              <a:t>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5650992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skills tracked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51206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5138928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B3A5C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5650992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U.S. metro areas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0536" y="51206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0536" y="5138928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B3A5C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5650992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cited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6DB5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3A5C"/>
                </a:solidFill>
                <a:latin typeface="Calibri"/>
              </a:rPr>
              <a:t>Four tools in one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ChiEAC Career Insights Dashboard  ·  Uday Pesala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3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7919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79192" cy="82296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plorer.png"/>
          <p:cNvPicPr>
            <a:picLocks noChangeAspect="1"/>
          </p:cNvPicPr>
          <p:nvPr/>
        </p:nvPicPr>
        <p:blipFill>
          <a:blip r:embed="rId2"/>
          <a:srcRect l="15200"/>
          <a:stretch>
            <a:fillRect/>
          </a:stretch>
        </p:blipFill>
        <p:spPr>
          <a:xfrm>
            <a:off x="658368" y="1783080"/>
            <a:ext cx="2459736" cy="1631605"/>
          </a:xfrm>
          <a:prstGeom prst="rect">
            <a:avLst/>
          </a:prstGeom>
          <a:ln w="12700">
            <a:solidFill>
              <a:srgbClr val="DDE3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85800" y="3428999"/>
            <a:ext cx="2404872" cy="7315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3A5C"/>
                </a:solidFill>
                <a:latin typeface="Calibri"/>
              </a:rPr>
              <a:t>Career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2404872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Pick skills, get ranked careers with a 0–100 match score and the reason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2404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F6DB5"/>
                </a:solidFill>
                <a:latin typeface="Calibr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1554480"/>
            <a:ext cx="267919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1554480"/>
            <a:ext cx="2679192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ap_charts.png"/>
          <p:cNvPicPr>
            <a:picLocks noChangeAspect="1"/>
          </p:cNvPicPr>
          <p:nvPr/>
        </p:nvPicPr>
        <p:blipFill>
          <a:blip r:embed="rId3"/>
          <a:srcRect l="15200"/>
          <a:stretch>
            <a:fillRect/>
          </a:stretch>
        </p:blipFill>
        <p:spPr>
          <a:xfrm>
            <a:off x="3502152" y="1783080"/>
            <a:ext cx="2459736" cy="1631605"/>
          </a:xfrm>
          <a:prstGeom prst="rect">
            <a:avLst/>
          </a:prstGeom>
          <a:ln w="12700">
            <a:solidFill>
              <a:srgbClr val="DDE3EB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3529584" y="3428999"/>
            <a:ext cx="2404872" cy="7315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3A5C"/>
                </a:solidFill>
                <a:latin typeface="Calibri"/>
              </a:rPr>
              <a:t>Skills Gap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251960"/>
            <a:ext cx="2404872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Readiness score, skills to build by priority, and a downloadable PDF/CSV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5349240"/>
            <a:ext cx="2404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A9D8F"/>
                </a:solidFill>
                <a:latin typeface="Calibri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554480"/>
            <a:ext cx="267919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554480"/>
            <a:ext cx="2679192" cy="82296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alary.png"/>
          <p:cNvPicPr>
            <a:picLocks noChangeAspect="1"/>
          </p:cNvPicPr>
          <p:nvPr/>
        </p:nvPicPr>
        <p:blipFill>
          <a:blip r:embed="rId4"/>
          <a:srcRect l="15200"/>
          <a:stretch>
            <a:fillRect/>
          </a:stretch>
        </p:blipFill>
        <p:spPr>
          <a:xfrm>
            <a:off x="6345936" y="1783080"/>
            <a:ext cx="2459736" cy="1631605"/>
          </a:xfrm>
          <a:prstGeom prst="rect">
            <a:avLst/>
          </a:prstGeom>
          <a:ln w="12700">
            <a:solidFill>
              <a:srgbClr val="DDE3EB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6373368" y="3428999"/>
            <a:ext cx="2404872" cy="7315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3A5C"/>
                </a:solidFill>
                <a:latin typeface="Calibri"/>
              </a:rPr>
              <a:t>Location &amp; Salary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251960"/>
            <a:ext cx="2404872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Salary ranges, job demand and hiring industries across 10 metros.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5349240"/>
            <a:ext cx="2404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07A1F"/>
                </a:solidFill>
                <a:latin typeface="Calibri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992" y="1554480"/>
            <a:ext cx="267919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9992" y="1554480"/>
            <a:ext cx="2679192" cy="82296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pact.png"/>
          <p:cNvPicPr>
            <a:picLocks noChangeAspect="1"/>
          </p:cNvPicPr>
          <p:nvPr/>
        </p:nvPicPr>
        <p:blipFill>
          <a:blip r:embed="rId5"/>
          <a:srcRect l="15200"/>
          <a:stretch>
            <a:fillRect/>
          </a:stretch>
        </p:blipFill>
        <p:spPr>
          <a:xfrm>
            <a:off x="9189720" y="1783080"/>
            <a:ext cx="2459736" cy="1631605"/>
          </a:xfrm>
          <a:prstGeom prst="rect">
            <a:avLst/>
          </a:prstGeom>
          <a:ln w="12700">
            <a:solidFill>
              <a:srgbClr val="DDE3EB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9217152" y="3428999"/>
            <a:ext cx="2404872" cy="7315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B3A5C"/>
                </a:solidFill>
                <a:latin typeface="Calibri"/>
              </a:rPr>
              <a:t>ChiEAC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251960"/>
            <a:ext cx="2404872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Anonymized community trends: top skills, target roles and skill gaps.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5349240"/>
            <a:ext cx="2404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7B5E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6DB5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3A5C"/>
                </a:solidFill>
                <a:latin typeface="Calibri"/>
              </a:rPr>
              <a:t>Built end to end: data, model, app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ChiEAC Career Insights Dashboard  ·  Uday Pesala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4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Public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737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8EEF6"/>
                </a:solidFill>
                <a:latin typeface="Calibri"/>
              </a:rPr>
              <a:t>BLS wages, O*NET skills, Data USA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221992"/>
            <a:ext cx="210312" cy="274320"/>
          </a:xfrm>
          <a:prstGeom prst="rightArrow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62072" y="164592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764792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194560"/>
            <a:ext cx="1737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8EEF6"/>
                </a:solidFill>
                <a:latin typeface="Calibri"/>
              </a:rPr>
              <a:t>Python + Pandas with integrity checks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19472" y="2221992"/>
            <a:ext cx="210312" cy="274320"/>
          </a:xfrm>
          <a:prstGeom prst="rightArrow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64792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Scoring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194560"/>
            <a:ext cx="1737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8EEF6"/>
                </a:solidFill>
                <a:latin typeface="Calibri"/>
              </a:rPr>
              <a:t>scikit-learn TF-IDF + weighted coverage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32904" y="2221992"/>
            <a:ext cx="210312" cy="274320"/>
          </a:xfrm>
          <a:prstGeom prst="rightArrow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88936" y="164592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6" y="1764792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194560"/>
            <a:ext cx="1737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8EEF6"/>
                </a:solidFill>
                <a:latin typeface="Calibri"/>
              </a:rPr>
              <a:t>Streamlit + Plotly, desktop &amp; mobile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46336" y="2221992"/>
            <a:ext cx="210312" cy="274320"/>
          </a:xfrm>
          <a:prstGeom prst="rightArrow">
            <a:avLst/>
          </a:prstGeom>
          <a:solidFill>
            <a:srgbClr val="DD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02368" y="164592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68" y="1764792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Deployed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194560"/>
            <a:ext cx="1737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8EEF6"/>
                </a:solidFill>
                <a:latin typeface="Calibri"/>
              </a:rPr>
              <a:t>Streamlit Cloud, auto-deploys from GitHub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29000"/>
            <a:ext cx="5669280" cy="269748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6118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DB5"/>
                </a:solidFill>
                <a:latin typeface="Calibri"/>
              </a:rPr>
              <a:t>TRANSPARENT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23360"/>
            <a:ext cx="5212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B3A5C"/>
                </a:solidFill>
                <a:latin typeface="Calibri"/>
              </a:rPr>
              <a:t>Match = 60% skill coverage + 40% specificity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Coverage: how much of the role's weighted skill profile you have.  Specificity: TF-IDF similarity, so distinctive skills count more than common ones.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5212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B3A5C"/>
                </a:solidFill>
                <a:latin typeface="Calibri"/>
              </a:rPr>
              <a:t>Priority = 70% importance + 30% transferability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Calibri"/>
              </a:rPr>
              <a:t>High / Medium / Low, explained on every page.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429000"/>
            <a:ext cx="5148072" cy="269748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611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BUILT TO BE TRUSTED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023360"/>
            <a:ext cx="466344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>
                <a:solidFill>
                  <a:srgbClr val="2A9D8F"/>
                </a:solidFill>
                <a:latin typeface="Calibri"/>
              </a:rPr>
              <a:t>●  </a:t>
            </a:r>
            <a:r>
              <a:rPr sz="1300" b="1">
                <a:solidFill>
                  <a:srgbClr val="1F2937"/>
                </a:solidFill>
                <a:latin typeface="Calibri"/>
              </a:rPr>
              <a:t>Cited data:</a:t>
            </a:r>
            <a:r>
              <a:rPr sz="1300" b="0">
                <a:solidFill>
                  <a:srgbClr val="1F2937"/>
                </a:solidFill>
                <a:latin typeface="Calibri"/>
              </a:rPr>
              <a:t> source &amp; date under every chart; demo data clearly labelled.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>
                <a:solidFill>
                  <a:srgbClr val="2A9D8F"/>
                </a:solidFill>
                <a:latin typeface="Calibri"/>
              </a:rPr>
              <a:t>●  </a:t>
            </a:r>
            <a:r>
              <a:rPr sz="1300" b="1">
                <a:solidFill>
                  <a:srgbClr val="1F2937"/>
                </a:solidFill>
                <a:latin typeface="Calibri"/>
              </a:rPr>
              <a:t>Privacy first:</a:t>
            </a:r>
            <a:r>
              <a:rPr sz="1300" b="0">
                <a:solidFill>
                  <a:srgbClr val="1F2937"/>
                </a:solidFill>
                <a:latin typeface="Calibri"/>
              </a:rPr>
              <a:t> no accounts, nothing stored; small groups (&lt;10) hidden.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>
                <a:solidFill>
                  <a:srgbClr val="2A9D8F"/>
                </a:solidFill>
                <a:latin typeface="Calibri"/>
              </a:rPr>
              <a:t>●  </a:t>
            </a:r>
            <a:r>
              <a:rPr sz="1300" b="1">
                <a:solidFill>
                  <a:srgbClr val="1F2937"/>
                </a:solidFill>
                <a:latin typeface="Calibri"/>
              </a:rPr>
              <a:t>Quality:</a:t>
            </a:r>
            <a:r>
              <a:rPr sz="1300" b="0">
                <a:solidFill>
                  <a:srgbClr val="1F2937"/>
                </a:solidFill>
                <a:latin typeface="Calibri"/>
              </a:rPr>
              <a:t> input validation, error handling, 17 automated tests.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>
                <a:solidFill>
                  <a:srgbClr val="2A9D8F"/>
                </a:solidFill>
                <a:latin typeface="Calibri"/>
              </a:rPr>
              <a:t>●  </a:t>
            </a:r>
            <a:r>
              <a:rPr sz="1300" b="1">
                <a:solidFill>
                  <a:srgbClr val="1F2937"/>
                </a:solidFill>
                <a:latin typeface="Calibri"/>
              </a:rPr>
              <a:t>Reproducible:</a:t>
            </a:r>
            <a:r>
              <a:rPr sz="1300" b="0">
                <a:solidFill>
                  <a:srgbClr val="1F2937"/>
                </a:solidFill>
                <a:latin typeface="Calibri"/>
              </a:rPr>
              <a:t> documented data dictionary and build 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6DB5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B3A5C"/>
                </a:solidFill>
                <a:latin typeface="Calibri"/>
              </a:rPr>
              <a:t>Value for ChiEAC,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ChiEAC Career Insights Dashboard  ·  Uday Pesala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778"/>
                </a:solidFill>
                <a:latin typeface="Calibri"/>
              </a:rPr>
              <a:t>5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66160" cy="82296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B3A5C"/>
                </a:solidFill>
                <a:latin typeface="Calibri"/>
              </a:rPr>
              <a:t>For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063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2F6DB5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Clear career options from their own skills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2F6DB5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A focused plan for what to learn next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2F6DB5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A report to bring to advisors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00200"/>
            <a:ext cx="35661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60020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0512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B3A5C"/>
                </a:solidFill>
                <a:latin typeface="Calibri"/>
              </a:rPr>
              <a:t>For 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31720"/>
            <a:ext cx="3063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2A9D8F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A shared, evidence-based starting point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2A9D8F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Explainable scores for 1:1 sessions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2A9D8F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Useful in workshops and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00200"/>
            <a:ext cx="35661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600200"/>
            <a:ext cx="3566160" cy="82296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10512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B3A5C"/>
                </a:solidFill>
                <a:latin typeface="Calibri"/>
              </a:rPr>
              <a:t>For ChiEAC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331720"/>
            <a:ext cx="3063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E07A1F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Anonymized insight into skills &amp; gaps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E07A1F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Data to plan workshops &amp; partnerships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E07A1F"/>
                </a:solidFill>
                <a:latin typeface="Calibri"/>
              </a:rPr>
              <a:t>●  </a:t>
            </a:r>
            <a:r>
              <a:rPr sz="1400" b="0">
                <a:solidFill>
                  <a:srgbClr val="1F2937"/>
                </a:solidFill>
                <a:latin typeface="Calibri"/>
              </a:rPr>
              <a:t>A ready foundation for impact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F6DB5"/>
                </a:solidFill>
                <a:latin typeface="Calibri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8"/>
            <a:ext cx="5760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F6DB5"/>
                </a:solidFill>
                <a:latin typeface="Calibri"/>
              </a:rPr>
              <a:t>●  </a:t>
            </a:r>
            <a:r>
              <a:rPr sz="1400" b="1">
                <a:solidFill>
                  <a:srgbClr val="1F2937"/>
                </a:solidFill>
                <a:latin typeface="Calibri"/>
              </a:rPr>
              <a:t>Pilot</a:t>
            </a:r>
            <a:r>
              <a:rPr sz="1400" b="0">
                <a:solidFill>
                  <a:srgbClr val="1F2937"/>
                </a:solidFill>
                <a:latin typeface="Calibri"/>
              </a:rPr>
              <a:t> with a ChiEAC student cohort and gather feedback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F6DB5"/>
                </a:solidFill>
                <a:latin typeface="Calibri"/>
              </a:rPr>
              <a:t>●  </a:t>
            </a:r>
            <a:r>
              <a:rPr sz="1400" b="1">
                <a:solidFill>
                  <a:srgbClr val="1F2937"/>
                </a:solidFill>
                <a:latin typeface="Calibri"/>
              </a:rPr>
              <a:t>Connect real program data</a:t>
            </a:r>
            <a:r>
              <a:rPr sz="1400" b="0">
                <a:solidFill>
                  <a:srgbClr val="1F2937"/>
                </a:solidFill>
                <a:latin typeface="Calibri"/>
              </a:rPr>
              <a:t> (with consent), replacing demo data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F6DB5"/>
                </a:solidFill>
                <a:latin typeface="Calibri"/>
              </a:rPr>
              <a:t>●  </a:t>
            </a:r>
            <a:r>
              <a:rPr sz="1400" b="1">
                <a:solidFill>
                  <a:srgbClr val="1F2937"/>
                </a:solidFill>
                <a:latin typeface="Calibri"/>
              </a:rPr>
              <a:t>Refresh</a:t>
            </a:r>
            <a:r>
              <a:rPr sz="1400" b="0">
                <a:solidFill>
                  <a:srgbClr val="1F2937"/>
                </a:solidFill>
                <a:latin typeface="Calibri"/>
              </a:rPr>
              <a:t> with the latest BLS and O*NET releases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297680"/>
            <a:ext cx="5148072" cy="19659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40740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Try it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75488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uday-pesala-chieac-project-career-insights-dashboard.streamlit.app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DB9DE"/>
                </a:solidFill>
                <a:latin typeface="Calibri"/>
              </a:rPr>
              <a:t>github.com/Udaypesala123/Chicago-education-advocacy-cooperative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EF6"/>
                </a:solidFill>
                <a:latin typeface="Calibri"/>
              </a:rPr>
              <a:t>Designed &amp; built by Uday Pesala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